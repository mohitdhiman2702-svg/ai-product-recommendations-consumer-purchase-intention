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E7F5FF"/>
          </a:solidFill>
          <a:ln w="12700">
            <a:solidFill>
              <a:srgbClr val="E7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83D66"/>
                </a:solidFill>
                <a:latin typeface="Aptos"/>
              </a:defRPr>
            </a:pPr>
            <a:r>
              <a:t>AI-POWERED PRODUCT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13816"/>
            <a:ext cx="109728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86C7E"/>
                </a:solidFill>
                <a:latin typeface="Aptos"/>
              </a:defRPr>
            </a:pPr>
            <a:r>
              <a:t>Impact on Consumer Purchase Intention | Independent MBA Marketing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972800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83D66"/>
                </a:solidFill>
                <a:latin typeface="Aptos"/>
              </a:defRPr>
            </a:pPr>
            <a:r>
              <a:t>Mohit Dhiman  •  MBA Marketing  •  HPU Business School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8463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D66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4800600" cy="10515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73644"/>
                </a:solidFill>
                <a:latin typeface="Aptos"/>
              </a:defRPr>
            </a:pPr>
            <a:r>
              <a:t>Online stores use AI recommendations to surface relevant products. But noticing a recommendation—or discovering a product—does not necessarily mean a consumer will intend to buy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37360"/>
            <a:ext cx="5376672" cy="17830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901952"/>
            <a:ext cx="48463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D66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58568"/>
            <a:ext cx="4800600" cy="10515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73644"/>
                </a:solidFill>
                <a:latin typeface="Aptos"/>
              </a:defRPr>
            </a:pPr>
            <a:r>
              <a:t>How are perceived recommendation relevance and product discovery associated with consumers’ stated purchase intention?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39"/>
            <a:ext cx="5349240" cy="2057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04487"/>
            <a:ext cx="48463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83D66"/>
                </a:solidFill>
                <a:latin typeface="Aptos"/>
              </a:defRPr>
            </a:pPr>
            <a:r>
              <a:t>METHOD AT A GLANCE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4800600" cy="1371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Quantitative, cross-sectional online survey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50 valid responses (52 received; 2 incomplete removed)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Five-point Likert-scale measures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Descriptive statistics, Pearson correlation and OLS regression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Tools: Google Forms, Python, Pandas and Statsmodels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49039"/>
            <a:ext cx="537667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3904487"/>
            <a:ext cx="48463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83D66"/>
                </a:solidFill>
                <a:latin typeface="Aptos"/>
              </a:defRPr>
            </a:pPr>
            <a:r>
              <a:t>WHAT THE STUDY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251960"/>
            <a:ext cx="4800600" cy="1371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1. Perceived relevance: recommendations match interests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2. Product discovery: recommendations surface products not actively searched for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3. Purchase intention: recommendations influence consideration of buying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04204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rPr sz="1050" dirty="0"/>
              <a:t>Scope note: self-reported survey associations; this design cannot establish causation or represent all online shoppers.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183D66"/>
                </a:solidFill>
                <a:latin typeface="Aptos"/>
              </a:defRPr>
            </a:pPr>
            <a:r>
              <a:t>WHAT THE RESPONSES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86C7E"/>
                </a:solidFill>
                <a:latin typeface="Aptos"/>
              </a:defRPr>
            </a:pPr>
            <a:r>
              <a:t>Descriptive findings and statistical results | n = 50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11064240" cy="32004"/>
          </a:xfrm>
          <a:prstGeom prst="rect">
            <a:avLst/>
          </a:prstGeom>
          <a:solidFill>
            <a:srgbClr val="5EB1E8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07592"/>
            <a:ext cx="2304288" cy="1243584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210312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83D66"/>
                </a:solidFill>
                <a:latin typeface="Aptos"/>
              </a:defRPr>
            </a:pPr>
            <a:r>
              <a:t>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74519"/>
            <a:ext cx="2084831" cy="53035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notice AI recommendations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very frequently or sometimes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307592"/>
            <a:ext cx="2304288" cy="1243584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1435608"/>
            <a:ext cx="210312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83D66"/>
                </a:solidFill>
                <a:latin typeface="Aptos"/>
              </a:defRPr>
            </a:pPr>
            <a:r>
              <a:t>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1874519"/>
            <a:ext cx="2084831" cy="53035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agree / strongly agree that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recommendations aid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6" y="1307592"/>
            <a:ext cx="2304288" cy="1243584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3096" y="1435608"/>
            <a:ext cx="210312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83D66"/>
                </a:solidFill>
                <a:latin typeface="Aptos"/>
              </a:defRPr>
            </a:pPr>
            <a:r>
              <a:t>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1874519"/>
            <a:ext cx="2084831" cy="53035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agree / strongly agree that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recommendations affect purchase consideration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0304" y="1307592"/>
            <a:ext cx="2304288" cy="1243584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81744" y="1435608"/>
            <a:ext cx="210312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83D66"/>
                </a:solidFill>
                <a:latin typeface="Aptos"/>
              </a:defRPr>
            </a:pPr>
            <a:r>
              <a:t>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1874519"/>
            <a:ext cx="2084831" cy="53035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select good reviews / ratings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as the top purchase trigger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61488"/>
            <a:ext cx="5440680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07792"/>
            <a:ext cx="493776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83D66"/>
                </a:solidFill>
                <a:latin typeface="Aptos"/>
              </a:defRPr>
            </a:pPr>
            <a:r>
              <a:t>AVERAGE RATINGS (OUT OF 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364992"/>
            <a:ext cx="173736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73644"/>
                </a:solidFill>
                <a:latin typeface="Aptos"/>
              </a:defRPr>
            </a:pPr>
            <a:r>
              <a:t>Perceived relevance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40" y="3387852"/>
            <a:ext cx="2103120" cy="1828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E7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606040" y="3387852"/>
            <a:ext cx="1312346" cy="182880"/>
          </a:xfrm>
          <a:prstGeom prst="roundRect">
            <a:avLst/>
          </a:prstGeom>
          <a:solidFill>
            <a:srgbClr val="5EB1E8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3355848"/>
            <a:ext cx="640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83D66"/>
                </a:solidFill>
                <a:latin typeface="Aptos"/>
              </a:defRPr>
            </a:pPr>
            <a:r>
              <a:t>3.12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941064"/>
            <a:ext cx="173736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73644"/>
                </a:solidFill>
                <a:latin typeface="Aptos"/>
              </a:defRPr>
            </a:pPr>
            <a:r>
              <a:t>Product discovery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3963924"/>
            <a:ext cx="2103120" cy="1828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E7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606040" y="3963924"/>
            <a:ext cx="1463771" cy="182880"/>
          </a:xfrm>
          <a:prstGeom prst="roundRect">
            <a:avLst/>
          </a:prstGeom>
          <a:solidFill>
            <a:srgbClr val="5EB1E8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2" y="3931920"/>
            <a:ext cx="640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83D66"/>
                </a:solidFill>
                <a:latin typeface="Aptos"/>
              </a:defRPr>
            </a:pPr>
            <a:r>
              <a:t>3.48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517136"/>
            <a:ext cx="173736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73644"/>
                </a:solidFill>
                <a:latin typeface="Aptos"/>
              </a:defRPr>
            </a:pPr>
            <a:r>
              <a:t>Purchase intention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40" y="4539996"/>
            <a:ext cx="2103120" cy="1828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E7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606040" y="4539996"/>
            <a:ext cx="1404884" cy="182880"/>
          </a:xfrm>
          <a:prstGeom prst="roundRect">
            <a:avLst/>
          </a:prstGeom>
          <a:solidFill>
            <a:srgbClr val="5EB1E8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4507992"/>
            <a:ext cx="640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83D66"/>
                </a:solidFill>
                <a:latin typeface="Aptos"/>
              </a:defRPr>
            </a:pPr>
            <a:r>
              <a:t>3.34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2761488"/>
            <a:ext cx="5312664" cy="2670048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907792"/>
            <a:ext cx="47548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83D66"/>
                </a:solidFill>
                <a:latin typeface="Aptos"/>
              </a:defRPr>
            </a:pPr>
            <a:r>
              <a:t>CORRELATION &amp; REGRESSION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264408"/>
            <a:ext cx="4754880" cy="19202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Relevance ↔ purchase intention: r = .138, p = .338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Discovery ↔ purchase intention: r = .226, p = .114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Regression model: R² = .061; model p = .228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Relevance coefficient: β = .086, p = .485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Discovery coefficient: β = .235, p = .154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96128"/>
            <a:ext cx="10972800" cy="47548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83D66"/>
                </a:solidFill>
                <a:latin typeface="Aptos"/>
              </a:defRPr>
            </a:pPr>
            <a:r>
              <a:t>Interpretation: relationships were positive but weak and not statistically significant at the 5% level. The model explained 6.1% of observed variation.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72200"/>
            <a:ext cx="10972800" cy="22621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rPr sz="1050" b="1" dirty="0"/>
              <a:t>Non-significance is not proof of no relationship; results are limited to this sample and study design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183D66"/>
                </a:solidFill>
                <a:latin typeface="Aptos"/>
              </a:defRPr>
            </a:pPr>
            <a:r>
              <a:t>FROM FINDINGS TO MARKETING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86C7E"/>
                </a:solidFill>
                <a:latin typeface="Aptos"/>
              </a:defRPr>
            </a:pPr>
            <a:r>
              <a:t>Practical implications without overstating the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11064240" cy="32004"/>
          </a:xfrm>
          <a:prstGeom prst="rect">
            <a:avLst/>
          </a:prstGeom>
          <a:solidFill>
            <a:srgbClr val="5EB1E8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394960" cy="33375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99616"/>
            <a:ext cx="489204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83D66"/>
                </a:solidFill>
                <a:latin typeface="Aptos"/>
              </a:defRPr>
            </a:pPr>
            <a:r>
              <a:t>WHAT MARKETERS CAN TAKE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4800600" cy="2514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1. Relevance is not enough on its own: evaluate recommendation quality and fit with shopper needs.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2. Trust signals matter: 34% selected good reviews/ratings as the factor most likely to increase purchase likelihood.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3. Discovery and purchase are different steps: track product discovery, product-page engagement and conversion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25880"/>
            <a:ext cx="5340096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8" y="1499616"/>
            <a:ext cx="484632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83D66"/>
                </a:solidFill>
                <a:latin typeface="Aptos"/>
              </a:defRPr>
            </a:pPr>
            <a:r>
              <a:t>RECOMMENDED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874519"/>
            <a:ext cx="4754880" cy="2514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Test recommendation relevance with a larger, more diverse sample.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Compare purchase intention across shopper groups and shopping frequency.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Where possible, use click-through, add-to-cart and conversion data alongside surveys.</a:t>
            </a:r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100" b="0">
                <a:solidFill>
                  <a:srgbClr val="273644"/>
                </a:solidFill>
                <a:latin typeface="Aptos"/>
              </a:defRPr>
            </a:pPr>
            <a:r>
              <a:t>• A/B test review visibility and recommendation placement before claiming business impact.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910328"/>
            <a:ext cx="10981944" cy="10058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5EB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83D66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424160" cy="4297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73644"/>
                </a:solidFill>
                <a:latin typeface="Aptos"/>
              </a:defRPr>
            </a:pPr>
            <a:r>
              <a:t>Small sample (n=50), self-reported and cross-sectional data, limited predictors, and no behavioural sales data. Findings are exploratory, not causal or broadly generalisable.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99632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C7E"/>
                </a:solidFill>
                <a:latin typeface="Aptos"/>
              </a:defRPr>
            </a:pPr>
            <a:r>
              <a:t>Mohit Dhiman | MBA Marketing | HPU Business School | Independent portfolio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540</Words>
  <Application>Microsoft Office PowerPoint</Application>
  <PresentationFormat>Widescreen</PresentationFormat>
  <Paragraphs>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mohit dhiman</cp:lastModifiedBy>
  <cp:revision>2</cp:revision>
  <dcterms:created xsi:type="dcterms:W3CDTF">2013-01-27T09:14:16Z</dcterms:created>
  <dcterms:modified xsi:type="dcterms:W3CDTF">2026-10-24T09:07:00Z</dcterms:modified>
  <cp:category/>
</cp:coreProperties>
</file>